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1" r:id="rId1"/>
  </p:sldMasterIdLst>
  <p:notesMasterIdLst>
    <p:notesMasterId r:id="rId25"/>
  </p:notesMasterIdLst>
  <p:sldIdLst>
    <p:sldId id="256" r:id="rId2"/>
    <p:sldId id="257" r:id="rId3"/>
    <p:sldId id="258" r:id="rId4"/>
    <p:sldId id="260" r:id="rId5"/>
    <p:sldId id="261" r:id="rId6"/>
    <p:sldId id="266" r:id="rId7"/>
    <p:sldId id="278" r:id="rId8"/>
    <p:sldId id="264" r:id="rId9"/>
    <p:sldId id="265" r:id="rId10"/>
    <p:sldId id="268" r:id="rId11"/>
    <p:sldId id="269" r:id="rId12"/>
    <p:sldId id="267" r:id="rId13"/>
    <p:sldId id="284" r:id="rId14"/>
    <p:sldId id="281" r:id="rId15"/>
    <p:sldId id="273" r:id="rId16"/>
    <p:sldId id="275" r:id="rId17"/>
    <p:sldId id="277" r:id="rId18"/>
    <p:sldId id="283" r:id="rId19"/>
    <p:sldId id="280" r:id="rId20"/>
    <p:sldId id="282" r:id="rId21"/>
    <p:sldId id="272" r:id="rId22"/>
    <p:sldId id="285" r:id="rId23"/>
    <p:sldId id="270"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84371" autoAdjust="0"/>
  </p:normalViewPr>
  <p:slideViewPr>
    <p:cSldViewPr snapToGrid="0">
      <p:cViewPr varScale="1">
        <p:scale>
          <a:sx n="96" d="100"/>
          <a:sy n="96" d="100"/>
        </p:scale>
        <p:origin x="114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883DDA-D5E1-45A6-814D-4F65089C3F11}" type="datetimeFigureOut">
              <a:rPr lang="en-IN" smtClean="0"/>
              <a:t>10-12-2025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89F7EB-5E27-4800-A9AB-446C45E9BFB8}" type="slidenum">
              <a:rPr lang="en-IN" smtClean="0"/>
              <a:t>‹#›</a:t>
            </a:fld>
            <a:endParaRPr lang="en-IN"/>
          </a:p>
        </p:txBody>
      </p:sp>
    </p:spTree>
    <p:extLst>
      <p:ext uri="{BB962C8B-B14F-4D97-AF65-F5344CB8AC3E}">
        <p14:creationId xmlns:p14="http://schemas.microsoft.com/office/powerpoint/2010/main" val="895123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55A4B40E-97ED-4C20-BF9C-EF872FC2BE5C}" type="datetime1">
              <a:rPr lang="en-IN" smtClean="0"/>
              <a:t>10-12-2025</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19CEB763-02FF-4B97-BDFB-BF2B5210447B}" type="slidenum">
              <a:rPr lang="en-IN" smtClean="0"/>
              <a:t>‹#›</a:t>
            </a:fld>
            <a:endParaRPr lang="en-IN"/>
          </a:p>
        </p:txBody>
      </p:sp>
    </p:spTree>
    <p:extLst>
      <p:ext uri="{BB962C8B-B14F-4D97-AF65-F5344CB8AC3E}">
        <p14:creationId xmlns:p14="http://schemas.microsoft.com/office/powerpoint/2010/main" val="417094748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90165796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smtClean="0"/>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26373279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12/10/2025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1231956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smtClean="0"/>
              <a:t>12/10/2025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76540221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12/10/2025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98635855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DB2E3A76-BBFA-49FC-AF77-23F783D58007}" type="datetime1">
              <a:rPr lang="en-IN" smtClean="0"/>
              <a:t>10-12-2025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9CEB763-02FF-4B97-BDFB-BF2B5210447B}" type="slidenum">
              <a:rPr lang="en-IN" smtClean="0"/>
              <a:t>‹#›</a:t>
            </a:fld>
            <a:endParaRPr lang="en-IN"/>
          </a:p>
        </p:txBody>
      </p:sp>
    </p:spTree>
    <p:extLst>
      <p:ext uri="{BB962C8B-B14F-4D97-AF65-F5344CB8AC3E}">
        <p14:creationId xmlns:p14="http://schemas.microsoft.com/office/powerpoint/2010/main" val="3507055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smtClean="0"/>
              <a:t>12/10/2025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76768608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smtClean="0"/>
              <a:t>12/10/2025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smtClean="0"/>
              <a:t>‹#›</a:t>
            </a:fld>
            <a:endParaRPr lang="en-US" dirty="0"/>
          </a:p>
        </p:txBody>
      </p:sp>
    </p:spTree>
    <p:extLst>
      <p:ext uri="{BB962C8B-B14F-4D97-AF65-F5344CB8AC3E}">
        <p14:creationId xmlns:p14="http://schemas.microsoft.com/office/powerpoint/2010/main" val="163986354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298CD5-6C1E-4009-B41F-6DF62E31D3BE}" type="datetimeFigureOut">
              <a:rPr lang="en-US" smtClean="0"/>
              <a:pPr/>
              <a:t>12/10/2025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3052045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298CD5-6C1E-4009-B41F-6DF62E31D3BE}" type="datetimeFigureOut">
              <a:rPr lang="en-US" smtClean="0"/>
              <a:pPr/>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731594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298CD5-6C1E-4009-B41F-6DF62E31D3BE}" type="datetimeFigureOut">
              <a:rPr lang="en-US" smtClean="0"/>
              <a:pPr/>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6018619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298CD5-6C1E-4009-B41F-6DF62E31D3BE}" type="datetimeFigureOut">
              <a:rPr lang="en-US" smtClean="0"/>
              <a:pPr/>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5805625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298CD5-6C1E-4009-B41F-6DF62E31D3BE}" type="datetimeFigureOut">
              <a:rPr lang="en-US" smtClean="0"/>
              <a:pPr/>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5407240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298CD5-6C1E-4009-B41F-6DF62E31D3BE}" type="datetimeFigureOut">
              <a:rPr lang="en-US" smtClean="0"/>
              <a:pPr/>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8739923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426876235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smtClean="0"/>
              <a:t>12/10/2025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13756398"/>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0298CD5-6C1E-4009-B41F-6DF62E31D3BE}" type="datetimeFigureOut">
              <a:rPr lang="en-US" smtClean="0"/>
              <a:pPr/>
              <a:t>12/10/2025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097258273"/>
      </p:ext>
    </p:extLst>
  </p:cSld>
  <p:clrMap bg1="dk1" tx1="lt1" bg2="dk2" tx2="lt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4" r:id="rId13"/>
    <p:sldLayoutId id="2147483975" r:id="rId14"/>
    <p:sldLayoutId id="2147483976" r:id="rId15"/>
    <p:sldLayoutId id="2147483977" r:id="rId16"/>
    <p:sldLayoutId id="2147483978"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1">
            <a:extLst>
              <a:ext uri="{FF2B5EF4-FFF2-40B4-BE49-F238E27FC236}">
                <a16:creationId xmlns:a16="http://schemas.microsoft.com/office/drawing/2014/main" id="{CEEEA876-2574-CBD9-F09B-90D6E83D2F13}"/>
              </a:ext>
            </a:extLst>
          </p:cNvPr>
          <p:cNvSpPr txBox="1">
            <a:spLocks noChangeArrowheads="1"/>
          </p:cNvSpPr>
          <p:nvPr/>
        </p:nvSpPr>
        <p:spPr bwMode="auto">
          <a:xfrm>
            <a:off x="1274717" y="173794"/>
            <a:ext cx="9642566"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eaLnBrk="1" hangingPunct="1">
              <a:buSzPct val="100000"/>
            </a:pPr>
            <a:endParaRPr lang="en-GB" altLang="en-US" sz="3000" dirty="0">
              <a:solidFill>
                <a:schemeClr val="tx1"/>
              </a:solidFill>
              <a:latin typeface="Times New Roman" panose="02020603050405020304" pitchFamily="18" charset="0"/>
              <a:cs typeface="Times New Roman" panose="02020603050405020304" pitchFamily="18" charset="0"/>
            </a:endParaRPr>
          </a:p>
          <a:p>
            <a:pPr algn="ctr" eaLnBrk="1" hangingPunct="1">
              <a:buSzPct val="100000"/>
            </a:pPr>
            <a:r>
              <a:rPr lang="en-US" altLang="en-US" sz="3000" dirty="0">
                <a:latin typeface="Times New Roman" panose="02020603050405020304" pitchFamily="18" charset="0"/>
                <a:cs typeface="Times New Roman" panose="02020603050405020304" pitchFamily="18" charset="0"/>
              </a:rPr>
              <a:t>Fingerprint-Based Access Control System for College Events</a:t>
            </a:r>
          </a:p>
          <a:p>
            <a:pPr algn="ctr" eaLnBrk="1" hangingPunct="1">
              <a:buSzPct val="100000"/>
            </a:pPr>
            <a:endParaRPr lang="en-US" altLang="en-US" sz="3000" dirty="0">
              <a:solidFill>
                <a:srgbClr val="0000FF"/>
              </a:solidFill>
              <a:latin typeface="Times New Roman" panose="02020603050405020304" pitchFamily="18" charset="0"/>
              <a:cs typeface="Times New Roman" panose="02020603050405020304" pitchFamily="18" charset="0"/>
            </a:endParaRPr>
          </a:p>
        </p:txBody>
      </p:sp>
      <p:sp>
        <p:nvSpPr>
          <p:cNvPr id="22" name="Text Box 2">
            <a:extLst>
              <a:ext uri="{FF2B5EF4-FFF2-40B4-BE49-F238E27FC236}">
                <a16:creationId xmlns:a16="http://schemas.microsoft.com/office/drawing/2014/main" id="{4A1BED34-A5F8-4897-3729-4896DECE0028}"/>
              </a:ext>
            </a:extLst>
          </p:cNvPr>
          <p:cNvSpPr txBox="1">
            <a:spLocks noChangeArrowheads="1"/>
          </p:cNvSpPr>
          <p:nvPr/>
        </p:nvSpPr>
        <p:spPr bwMode="auto">
          <a:xfrm>
            <a:off x="1895475" y="1440757"/>
            <a:ext cx="8401050" cy="14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buSzPct val="100000"/>
            </a:pPr>
            <a:r>
              <a:rPr lang="pt-BR" altLang="en-US" sz="2000" dirty="0">
                <a:solidFill>
                  <a:schemeClr val="tx1"/>
                </a:solidFill>
                <a:latin typeface="Times New Roman" panose="02020603050405020304" pitchFamily="18" charset="0"/>
                <a:cs typeface="Times New Roman" panose="02020603050405020304" pitchFamily="18" charset="0"/>
              </a:rPr>
              <a:t>BY</a:t>
            </a:r>
          </a:p>
          <a:p>
            <a:pPr algn="ctr">
              <a:buSzPct val="100000"/>
            </a:pPr>
            <a:r>
              <a:rPr lang="pt-BR" altLang="en-US" sz="2000" dirty="0">
                <a:solidFill>
                  <a:schemeClr val="tx1"/>
                </a:solidFill>
                <a:latin typeface="Times New Roman" panose="02020603050405020304" pitchFamily="18" charset="0"/>
                <a:cs typeface="Times New Roman" panose="02020603050405020304" pitchFamily="18" charset="0"/>
              </a:rPr>
              <a:t>	THIMMAPURAM SRINIVAS CHARY     [22R11A6739]</a:t>
            </a:r>
          </a:p>
          <a:p>
            <a:pPr algn="ctr">
              <a:buSzPct val="100000"/>
            </a:pPr>
            <a:r>
              <a:rPr lang="pt-BR" altLang="en-US" sz="2000" dirty="0">
                <a:solidFill>
                  <a:schemeClr val="tx1"/>
                </a:solidFill>
                <a:latin typeface="Times New Roman" panose="02020603050405020304" pitchFamily="18" charset="0"/>
                <a:cs typeface="Times New Roman" panose="02020603050405020304" pitchFamily="18" charset="0"/>
              </a:rPr>
              <a:t>	DYAVARI RAMA KRISHNA                     [23R15A6702]</a:t>
            </a:r>
          </a:p>
          <a:p>
            <a:pPr algn="ctr">
              <a:buSzPct val="100000"/>
            </a:pPr>
            <a:r>
              <a:rPr lang="pt-BR" altLang="en-US" sz="2000" dirty="0">
                <a:solidFill>
                  <a:schemeClr val="tx1"/>
                </a:solidFill>
                <a:latin typeface="Times New Roman" panose="02020603050405020304" pitchFamily="18" charset="0"/>
                <a:cs typeface="Times New Roman" panose="02020603050405020304" pitchFamily="18" charset="0"/>
              </a:rPr>
              <a:t>	KOKKALAKONDA AKHIL                      [22R11A6723]</a:t>
            </a:r>
          </a:p>
          <a:p>
            <a:pPr algn="ctr" eaLnBrk="1" hangingPunct="1">
              <a:buSzPct val="100000"/>
            </a:pPr>
            <a:endParaRPr lang="en-GB" altLang="en-US" sz="2000" dirty="0">
              <a:solidFill>
                <a:schemeClr val="tx1"/>
              </a:solidFill>
              <a:latin typeface="Times New Roman" panose="02020603050405020304" pitchFamily="18" charset="0"/>
              <a:cs typeface="Times New Roman" panose="02020603050405020304" pitchFamily="18" charset="0"/>
            </a:endParaRPr>
          </a:p>
          <a:p>
            <a:pPr algn="ctr" eaLnBrk="1" hangingPunct="1">
              <a:buSzPct val="100000"/>
            </a:pPr>
            <a:r>
              <a:rPr lang="en-GB" altLang="en-US" sz="2000" dirty="0">
                <a:solidFill>
                  <a:schemeClr val="tx1"/>
                </a:solidFill>
                <a:latin typeface="Times New Roman" panose="02020603050405020304" pitchFamily="18" charset="0"/>
                <a:cs typeface="Times New Roman" panose="02020603050405020304" pitchFamily="18" charset="0"/>
              </a:rPr>
              <a:t>Under the </a:t>
            </a:r>
            <a:r>
              <a:rPr lang="en-US" altLang="en-US" sz="2000" dirty="0" err="1">
                <a:solidFill>
                  <a:schemeClr val="tx1"/>
                </a:solidFill>
                <a:latin typeface="Times New Roman" panose="02020603050405020304" pitchFamily="18" charset="0"/>
                <a:cs typeface="Times New Roman" panose="02020603050405020304" pitchFamily="18" charset="0"/>
              </a:rPr>
              <a:t>Guid</a:t>
            </a:r>
            <a:r>
              <a:rPr lang="en-GB" altLang="en-US" sz="2000" dirty="0" err="1">
                <a:solidFill>
                  <a:schemeClr val="tx1"/>
                </a:solidFill>
                <a:latin typeface="Times New Roman" panose="02020603050405020304" pitchFamily="18" charset="0"/>
                <a:cs typeface="Times New Roman" panose="02020603050405020304" pitchFamily="18" charset="0"/>
              </a:rPr>
              <a:t>ance</a:t>
            </a:r>
            <a:r>
              <a:rPr lang="en-GB" altLang="en-US" sz="2000" dirty="0">
                <a:solidFill>
                  <a:schemeClr val="tx1"/>
                </a:solidFill>
                <a:latin typeface="Times New Roman" panose="02020603050405020304" pitchFamily="18" charset="0"/>
                <a:cs typeface="Times New Roman" panose="02020603050405020304" pitchFamily="18" charset="0"/>
              </a:rPr>
              <a:t> of </a:t>
            </a:r>
          </a:p>
          <a:p>
            <a:pPr algn="ctr" eaLnBrk="1" hangingPunct="1">
              <a:buSzPct val="100000"/>
            </a:pPr>
            <a:r>
              <a:rPr lang="en-US" altLang="en-US" sz="2000" dirty="0" err="1">
                <a:solidFill>
                  <a:schemeClr val="tx1"/>
                </a:solidFill>
                <a:latin typeface="Times New Roman" panose="02020603050405020304" pitchFamily="18" charset="0"/>
                <a:cs typeface="Times New Roman" panose="02020603050405020304" pitchFamily="18" charset="0"/>
              </a:rPr>
              <a:t>Mr.S.Tirupathi</a:t>
            </a: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dirty="0" err="1">
                <a:solidFill>
                  <a:schemeClr val="tx1"/>
                </a:solidFill>
                <a:latin typeface="Times New Roman" panose="02020603050405020304" pitchFamily="18" charset="0"/>
                <a:cs typeface="Times New Roman" panose="02020603050405020304" pitchFamily="18" charset="0"/>
              </a:rPr>
              <a:t>Rao</a:t>
            </a:r>
            <a:r>
              <a:rPr lang="en-US" altLang="en-US" sz="2000" dirty="0">
                <a:solidFill>
                  <a:schemeClr val="tx1"/>
                </a:solidFill>
                <a:latin typeface="Times New Roman" panose="02020603050405020304" pitchFamily="18" charset="0"/>
                <a:cs typeface="Times New Roman" panose="02020603050405020304" pitchFamily="18" charset="0"/>
              </a:rPr>
              <a:t> (Associate Professor)</a:t>
            </a:r>
          </a:p>
          <a:p>
            <a:pPr algn="ctr" eaLnBrk="1" hangingPunct="1">
              <a:buSzPct val="100000"/>
            </a:pPr>
            <a:endParaRPr lang="en-US" altLang="en-US" sz="2800" dirty="0">
              <a:solidFill>
                <a:schemeClr val="tx1"/>
              </a:solidFill>
              <a:latin typeface="Times New Roman" panose="02020603050405020304" pitchFamily="18" charset="0"/>
              <a:cs typeface="Times New Roman" panose="02020603050405020304" pitchFamily="18" charset="0"/>
            </a:endParaRPr>
          </a:p>
          <a:p>
            <a:pPr algn="ctr" eaLnBrk="1" hangingPunct="1">
              <a:buSzPct val="100000"/>
            </a:pPr>
            <a:endParaRPr lang="en-US" altLang="en-US" sz="2800" dirty="0">
              <a:solidFill>
                <a:schemeClr val="tx1"/>
              </a:solidFill>
              <a:latin typeface="Times New Roman" panose="02020603050405020304" pitchFamily="18" charset="0"/>
              <a:cs typeface="Times New Roman" panose="02020603050405020304" pitchFamily="18" charset="0"/>
            </a:endParaRPr>
          </a:p>
          <a:p>
            <a:pPr algn="ctr">
              <a:buSzPct val="100000"/>
            </a:pPr>
            <a:endParaRPr lang="en-US" altLang="en-US" sz="2800" dirty="0">
              <a:solidFill>
                <a:schemeClr val="tx1"/>
              </a:solidFill>
              <a:latin typeface="Times New Roman" panose="02020603050405020304" pitchFamily="18" charset="0"/>
              <a:cs typeface="Times New Roman" panose="02020603050405020304" pitchFamily="18" charset="0"/>
            </a:endParaRPr>
          </a:p>
        </p:txBody>
      </p:sp>
      <p:sp>
        <p:nvSpPr>
          <p:cNvPr id="23" name="Rectangle 22">
            <a:extLst>
              <a:ext uri="{FF2B5EF4-FFF2-40B4-BE49-F238E27FC236}">
                <a16:creationId xmlns:a16="http://schemas.microsoft.com/office/drawing/2014/main" id="{3913B912-A1C4-90F4-5246-D15F13800225}"/>
              </a:ext>
            </a:extLst>
          </p:cNvPr>
          <p:cNvSpPr>
            <a:spLocks noChangeArrowheads="1"/>
          </p:cNvSpPr>
          <p:nvPr/>
        </p:nvSpPr>
        <p:spPr bwMode="auto">
          <a:xfrm>
            <a:off x="1689457" y="4442657"/>
            <a:ext cx="8763000" cy="224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ts val="1600"/>
              </a:lnSpc>
            </a:pPr>
            <a:endParaRPr lang="en-US" altLang="en-US" b="1" dirty="0">
              <a:solidFill>
                <a:schemeClr val="tx1"/>
              </a:solidFill>
              <a:latin typeface="Times New Roman" panose="02020603050405020304" pitchFamily="18" charset="0"/>
              <a:cs typeface="Times New Roman" panose="02020603050405020304" pitchFamily="18" charset="0"/>
            </a:endParaRPr>
          </a:p>
          <a:p>
            <a:pPr algn="ctr">
              <a:lnSpc>
                <a:spcPts val="1600"/>
              </a:lnSpc>
            </a:pPr>
            <a:r>
              <a:rPr lang="en-US" altLang="en-US" b="1" dirty="0">
                <a:solidFill>
                  <a:schemeClr val="tx1"/>
                </a:solidFill>
                <a:latin typeface="Times New Roman" panose="02020603050405020304" pitchFamily="18" charset="0"/>
                <a:cs typeface="Times New Roman" panose="02020603050405020304" pitchFamily="18" charset="0"/>
              </a:rPr>
              <a:t>Department of CSE(Data Science)</a:t>
            </a:r>
          </a:p>
          <a:p>
            <a:pPr algn="ctr">
              <a:lnSpc>
                <a:spcPts val="1600"/>
              </a:lnSpc>
            </a:pPr>
            <a:endParaRPr lang="en-US" altLang="en-US" b="1" dirty="0">
              <a:solidFill>
                <a:schemeClr val="tx1"/>
              </a:solidFill>
              <a:latin typeface="Times New Roman" panose="02020603050405020304" pitchFamily="18" charset="0"/>
              <a:cs typeface="Times New Roman" panose="02020603050405020304" pitchFamily="18" charset="0"/>
            </a:endParaRPr>
          </a:p>
          <a:p>
            <a:pPr algn="ctr">
              <a:lnSpc>
                <a:spcPts val="1600"/>
              </a:lnSpc>
            </a:pPr>
            <a:r>
              <a:rPr lang="en-US" altLang="en-US" b="1" dirty="0">
                <a:solidFill>
                  <a:schemeClr val="tx1"/>
                </a:solidFill>
                <a:latin typeface="Times New Roman" panose="02020603050405020304" pitchFamily="18" charset="0"/>
                <a:cs typeface="Times New Roman" panose="02020603050405020304" pitchFamily="18" charset="0"/>
              </a:rPr>
              <a:t>Geethanjali College of Engineering and Technology</a:t>
            </a:r>
            <a:endParaRPr lang="en-IN" altLang="en-US" dirty="0">
              <a:solidFill>
                <a:schemeClr val="tx1"/>
              </a:solidFill>
              <a:latin typeface="Times New Roman" panose="02020603050405020304" pitchFamily="18" charset="0"/>
              <a:cs typeface="Times New Roman" panose="02020603050405020304" pitchFamily="18" charset="0"/>
            </a:endParaRPr>
          </a:p>
          <a:p>
            <a:pPr algn="ctr">
              <a:lnSpc>
                <a:spcPts val="1375"/>
              </a:lnSpc>
            </a:pPr>
            <a:endParaRPr lang="en-US" altLang="en-US" b="1" dirty="0">
              <a:solidFill>
                <a:schemeClr val="tx1"/>
              </a:solidFill>
              <a:latin typeface="Times New Roman" panose="02020603050405020304" pitchFamily="18" charset="0"/>
              <a:cs typeface="Times New Roman" panose="02020603050405020304" pitchFamily="18" charset="0"/>
            </a:endParaRPr>
          </a:p>
          <a:p>
            <a:pPr algn="ctr">
              <a:lnSpc>
                <a:spcPts val="1375"/>
              </a:lnSpc>
            </a:pPr>
            <a:r>
              <a:rPr lang="en-US" altLang="en-US" b="1" dirty="0">
                <a:solidFill>
                  <a:schemeClr val="tx1"/>
                </a:solidFill>
                <a:latin typeface="Times New Roman" panose="02020603050405020304" pitchFamily="18" charset="0"/>
                <a:cs typeface="Times New Roman" panose="02020603050405020304" pitchFamily="18" charset="0"/>
              </a:rPr>
              <a:t>(UGC Autonomous)</a:t>
            </a:r>
            <a:endParaRPr lang="en-IN" altLang="en-US" b="1" dirty="0">
              <a:solidFill>
                <a:schemeClr val="tx1"/>
              </a:solidFill>
              <a:latin typeface="Times New Roman" panose="02020603050405020304" pitchFamily="18" charset="0"/>
              <a:cs typeface="Times New Roman" panose="02020603050405020304" pitchFamily="18" charset="0"/>
            </a:endParaRPr>
          </a:p>
          <a:p>
            <a:pPr algn="ctr">
              <a:lnSpc>
                <a:spcPct val="98000"/>
              </a:lnSpc>
              <a:spcBef>
                <a:spcPts val="50"/>
              </a:spcBef>
            </a:pPr>
            <a:r>
              <a:rPr lang="en-US" altLang="en-US" dirty="0">
                <a:solidFill>
                  <a:schemeClr val="tx1"/>
                </a:solidFill>
                <a:latin typeface="Times New Roman" panose="02020603050405020304" pitchFamily="18" charset="0"/>
                <a:cs typeface="Times New Roman" panose="02020603050405020304" pitchFamily="18" charset="0"/>
              </a:rPr>
              <a:t>(Affiliated to J.N.T.U.H, Approved by AICTE, New Delhi)</a:t>
            </a:r>
          </a:p>
          <a:p>
            <a:pPr algn="ctr">
              <a:lnSpc>
                <a:spcPct val="98000"/>
              </a:lnSpc>
              <a:spcBef>
                <a:spcPts val="50"/>
              </a:spcBef>
            </a:pPr>
            <a:r>
              <a:rPr lang="en-US" altLang="en-US" dirty="0" err="1">
                <a:solidFill>
                  <a:schemeClr val="tx1"/>
                </a:solidFill>
                <a:latin typeface="Times New Roman" panose="02020603050405020304" pitchFamily="18" charset="0"/>
                <a:cs typeface="Times New Roman" panose="02020603050405020304" pitchFamily="18" charset="0"/>
              </a:rPr>
              <a:t>Cheeryal</a:t>
            </a:r>
            <a:r>
              <a:rPr lang="en-US" altLang="en-US" dirty="0">
                <a:solidFill>
                  <a:schemeClr val="tx1"/>
                </a:solidFill>
                <a:latin typeface="Times New Roman" panose="02020603050405020304" pitchFamily="18" charset="0"/>
                <a:cs typeface="Times New Roman" panose="02020603050405020304" pitchFamily="18" charset="0"/>
              </a:rPr>
              <a:t>(V), </a:t>
            </a:r>
            <a:r>
              <a:rPr lang="en-US" altLang="en-US" dirty="0" err="1">
                <a:solidFill>
                  <a:schemeClr val="tx1"/>
                </a:solidFill>
                <a:latin typeface="Times New Roman" panose="02020603050405020304" pitchFamily="18" charset="0"/>
                <a:cs typeface="Times New Roman" panose="02020603050405020304" pitchFamily="18" charset="0"/>
              </a:rPr>
              <a:t>Keesara</a:t>
            </a:r>
            <a:r>
              <a:rPr lang="en-US" altLang="en-US" dirty="0">
                <a:solidFill>
                  <a:schemeClr val="tx1"/>
                </a:solidFill>
                <a:latin typeface="Times New Roman" panose="02020603050405020304" pitchFamily="18" charset="0"/>
                <a:cs typeface="Times New Roman" panose="02020603050405020304" pitchFamily="18" charset="0"/>
              </a:rPr>
              <a:t>(M),Medchal-501301.</a:t>
            </a:r>
            <a:br>
              <a:rPr lang="en-US" altLang="en-US" sz="1400" dirty="0">
                <a:solidFill>
                  <a:srgbClr val="006EBD"/>
                </a:solidFill>
                <a:latin typeface="Times New Roman" panose="02020603050405020304" pitchFamily="18" charset="0"/>
                <a:cs typeface="Times New Roman" panose="02020603050405020304" pitchFamily="18" charset="0"/>
              </a:rPr>
            </a:br>
            <a:r>
              <a:rPr lang="en-US" altLang="en-US" sz="1400" dirty="0">
                <a:latin typeface="Times New Roman" panose="02020603050405020304" pitchFamily="18" charset="0"/>
                <a:cs typeface="Times New Roman" panose="02020603050405020304" pitchFamily="18" charset="0"/>
              </a:rPr>
              <a:t>M), Medchal.Dist.-501 301.</a:t>
            </a:r>
            <a:endParaRPr lang="en-IN" altLang="en-US" sz="1400" dirty="0">
              <a:latin typeface="Times New Roman" panose="02020603050405020304" pitchFamily="18" charset="0"/>
              <a:cs typeface="Times New Roman" panose="02020603050405020304" pitchFamily="18" charset="0"/>
            </a:endParaRPr>
          </a:p>
          <a:p>
            <a:pPr>
              <a:spcBef>
                <a:spcPts val="25"/>
              </a:spcBef>
            </a:pPr>
            <a:r>
              <a:rPr lang="en-US" altLang="en-US" sz="1400" dirty="0">
                <a:latin typeface="Times New Roman" panose="02020603050405020304" pitchFamily="18" charset="0"/>
                <a:cs typeface="Times New Roman" panose="02020603050405020304" pitchFamily="18" charset="0"/>
              </a:rPr>
              <a:t> </a:t>
            </a:r>
            <a:endParaRPr lang="en-IN" altLang="en-US" sz="1600" dirty="0">
              <a:latin typeface="Times New Roman" panose="02020603050405020304" pitchFamily="18" charset="0"/>
              <a:cs typeface="Times New Roman" panose="02020603050405020304" pitchFamily="18" charset="0"/>
            </a:endParaRPr>
          </a:p>
        </p:txBody>
      </p:sp>
      <p:pic>
        <p:nvPicPr>
          <p:cNvPr id="24" name="image1.jpeg">
            <a:extLst>
              <a:ext uri="{FF2B5EF4-FFF2-40B4-BE49-F238E27FC236}">
                <a16:creationId xmlns:a16="http://schemas.microsoft.com/office/drawing/2014/main" id="{BB1C5CB8-4EB5-93EB-DB19-40D6C8C239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1312" y="3760721"/>
            <a:ext cx="909376" cy="745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44715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043504-2A7F-B8CA-C599-D0F8EA034F24}"/>
              </a:ext>
            </a:extLst>
          </p:cNvPr>
          <p:cNvSpPr txBox="1"/>
          <p:nvPr/>
        </p:nvSpPr>
        <p:spPr>
          <a:xfrm>
            <a:off x="5024283" y="238121"/>
            <a:ext cx="2143433" cy="769441"/>
          </a:xfrm>
          <a:prstGeom prst="rect">
            <a:avLst/>
          </a:prstGeom>
          <a:noFill/>
        </p:spPr>
        <p:txBody>
          <a:bodyPr wrap="square">
            <a:spAutoFit/>
          </a:bodyPr>
          <a:lstStyle/>
          <a:p>
            <a:r>
              <a:rPr lang="en-US" sz="4400" dirty="0">
                <a:latin typeface="Times New Roman" panose="02020603050405020304" pitchFamily="18" charset="0"/>
                <a:cs typeface="Times New Roman" panose="02020603050405020304" pitchFamily="18" charset="0"/>
              </a:rPr>
              <a:t>Agenda</a:t>
            </a:r>
            <a:endParaRPr lang="en-IN" sz="4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42C433D-882C-C13A-9884-4596A4CBB26B}"/>
              </a:ext>
            </a:extLst>
          </p:cNvPr>
          <p:cNvSpPr txBox="1"/>
          <p:nvPr/>
        </p:nvSpPr>
        <p:spPr>
          <a:xfrm>
            <a:off x="1523465" y="1283739"/>
            <a:ext cx="3952567" cy="4524315"/>
          </a:xfrm>
          <a:prstGeom prst="rect">
            <a:avLst/>
          </a:prstGeom>
          <a:noFill/>
        </p:spPr>
        <p:txBody>
          <a:bodyPr wrap="square" rtlCol="0">
            <a:spAutoFit/>
          </a:bodyPr>
          <a:lstStyle/>
          <a:p>
            <a:pPr marL="285750" indent="-28575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Introduction</a:t>
            </a:r>
          </a:p>
          <a:p>
            <a:pPr marL="285750" indent="-28575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Problem statement</a:t>
            </a:r>
          </a:p>
          <a:p>
            <a:pPr marL="285750" indent="-28575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Abstract</a:t>
            </a:r>
          </a:p>
          <a:p>
            <a:pPr marL="285750" indent="-28575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Objective</a:t>
            </a:r>
          </a:p>
          <a:p>
            <a:pPr marL="285750" indent="-28575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Design</a:t>
            </a:r>
          </a:p>
          <a:p>
            <a:pPr marL="285750" indent="-28575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Implementation</a:t>
            </a:r>
          </a:p>
          <a:p>
            <a:pPr marL="285750" indent="-28575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References</a:t>
            </a:r>
          </a:p>
          <a:p>
            <a:pPr marL="285750" indent="-28575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Conclusion</a:t>
            </a:r>
          </a:p>
          <a:p>
            <a:pPr marL="285750" indent="-285750">
              <a:buFont typeface="Wingdings" panose="05000000000000000000" pitchFamily="2" charset="2"/>
              <a:buChar char="v"/>
            </a:pP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1047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3E90A4-FE40-DA52-9D23-3EDF713F558F}"/>
              </a:ext>
            </a:extLst>
          </p:cNvPr>
          <p:cNvSpPr txBox="1"/>
          <p:nvPr/>
        </p:nvSpPr>
        <p:spPr>
          <a:xfrm>
            <a:off x="3595456" y="438252"/>
            <a:ext cx="393949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INTRODUCTION</a:t>
            </a:r>
            <a:endParaRPr lang="en-IN" sz="36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9753969-5020-C50C-2DFA-F6CF3C030FF7}"/>
              </a:ext>
            </a:extLst>
          </p:cNvPr>
          <p:cNvSpPr>
            <a:spLocks noChangeArrowheads="1"/>
          </p:cNvSpPr>
          <p:nvPr/>
        </p:nvSpPr>
        <p:spPr bwMode="auto">
          <a:xfrm>
            <a:off x="914400" y="1440850"/>
            <a:ext cx="963288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Fingerprint-Based Access Control System for College Events is an innovative solution designed to automate and secure the process of student identification. It uses biometric fingerprint authentication to verify participants, replacing traditional manual methods that are prone to errors and duplication. The system integrates an Arduino-based fingerprint sensor for enrollment, a Python bridge script for serial communication, and a web-based interface for user management and monitoring. All user data, including ID numbers, roll numbers, and timestamps, are stored in a JSON file for easy access. This project ensures reliable, efficient, and tamper-proof access control during college events.</a:t>
            </a:r>
          </a:p>
        </p:txBody>
      </p:sp>
    </p:spTree>
    <p:extLst>
      <p:ext uri="{BB962C8B-B14F-4D97-AF65-F5344CB8AC3E}">
        <p14:creationId xmlns:p14="http://schemas.microsoft.com/office/powerpoint/2010/main" val="3847711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8118C8-8C6A-40CD-145C-0844C8D3214B}"/>
              </a:ext>
            </a:extLst>
          </p:cNvPr>
          <p:cNvSpPr txBox="1"/>
          <p:nvPr/>
        </p:nvSpPr>
        <p:spPr>
          <a:xfrm>
            <a:off x="3434202" y="687422"/>
            <a:ext cx="4823489" cy="1015663"/>
          </a:xfrm>
          <a:prstGeom prst="rect">
            <a:avLst/>
          </a:prstGeom>
          <a:noFill/>
        </p:spPr>
        <p:txBody>
          <a:bodyPr wrap="square" rtlCol="0">
            <a:spAutoFit/>
          </a:bodyPr>
          <a:lstStyle/>
          <a:p>
            <a:r>
              <a:rPr lang="en-US" sz="3600" b="1" dirty="0"/>
              <a:t>PROBLEM STATEMENT</a:t>
            </a:r>
          </a:p>
          <a:p>
            <a:endParaRPr lang="en-IN" sz="2400" dirty="0"/>
          </a:p>
        </p:txBody>
      </p:sp>
      <p:sp>
        <p:nvSpPr>
          <p:cNvPr id="3" name="TextBox 2">
            <a:extLst>
              <a:ext uri="{FF2B5EF4-FFF2-40B4-BE49-F238E27FC236}">
                <a16:creationId xmlns:a16="http://schemas.microsoft.com/office/drawing/2014/main" id="{56A3019B-5F2C-80CE-AD74-7248056A49E8}"/>
              </a:ext>
            </a:extLst>
          </p:cNvPr>
          <p:cNvSpPr txBox="1"/>
          <p:nvPr/>
        </p:nvSpPr>
        <p:spPr>
          <a:xfrm>
            <a:off x="1012056" y="1703085"/>
            <a:ext cx="9667782" cy="3785652"/>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Traditional event access and attendance systems in colleges rely on manual verification or ID cards, which are time-consuming, error-prone, and susceptible to duplication or misuse. Managing large student gatherings becomes challenging due to delays in authentication and record maintenance. To overcome these issues, there is a need for a secure, automated, and efficient system that can uniquely identify each participant. The proposed Fingerprint-Based Access Control System addresses this problem by using biometric fingerprint authentication integrated with a web-based interface to ensure accurate, real-time verification and data management for college events.</a:t>
            </a:r>
          </a:p>
        </p:txBody>
      </p:sp>
    </p:spTree>
    <p:extLst>
      <p:ext uri="{BB962C8B-B14F-4D97-AF65-F5344CB8AC3E}">
        <p14:creationId xmlns:p14="http://schemas.microsoft.com/office/powerpoint/2010/main" val="1968426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C58AD2-B820-82CD-3789-84324A5F3956}"/>
              </a:ext>
            </a:extLst>
          </p:cNvPr>
          <p:cNvSpPr txBox="1"/>
          <p:nvPr/>
        </p:nvSpPr>
        <p:spPr>
          <a:xfrm>
            <a:off x="4154750" y="481781"/>
            <a:ext cx="3209611" cy="830997"/>
          </a:xfrm>
          <a:prstGeom prst="rect">
            <a:avLst/>
          </a:prstGeom>
          <a:noFill/>
        </p:spPr>
        <p:txBody>
          <a:bodyPr wrap="square" rtlCol="0">
            <a:spAutoFit/>
          </a:bodyPr>
          <a:lstStyle/>
          <a:p>
            <a:r>
              <a:rPr lang="en-US" sz="4800" dirty="0"/>
              <a:t>ABSTRACT</a:t>
            </a:r>
            <a:endParaRPr lang="en-IN" sz="4800" dirty="0"/>
          </a:p>
        </p:txBody>
      </p:sp>
      <p:sp>
        <p:nvSpPr>
          <p:cNvPr id="3" name="TextBox 2">
            <a:extLst>
              <a:ext uri="{FF2B5EF4-FFF2-40B4-BE49-F238E27FC236}">
                <a16:creationId xmlns:a16="http://schemas.microsoft.com/office/drawing/2014/main" id="{A549C171-BB17-15A6-B647-D56B3C1A5D6B}"/>
              </a:ext>
            </a:extLst>
          </p:cNvPr>
          <p:cNvSpPr txBox="1"/>
          <p:nvPr/>
        </p:nvSpPr>
        <p:spPr>
          <a:xfrm>
            <a:off x="905523" y="1693344"/>
            <a:ext cx="9596761" cy="3046988"/>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This Fingerprint-Based Access Control System for College Events project uses a biometric fingerprint sensor connected to an Arduino microcontroller to uniquely identify users. A Python-based communication bridge links the hardware with a web interface, allowing real-time enrollment, deletion, and monitoring of users. The system enables seamless enrollment, deletion, and record maintenance of participants, all stored in a lightweight JSON database. It provides a scalable, real-time solution for secure and efficient event management.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1944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0FA29C-EEC6-EC4B-AE9B-D1053DF16A19}"/>
              </a:ext>
            </a:extLst>
          </p:cNvPr>
          <p:cNvSpPr txBox="1"/>
          <p:nvPr/>
        </p:nvSpPr>
        <p:spPr>
          <a:xfrm>
            <a:off x="3409026" y="541332"/>
            <a:ext cx="5114206"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TECHNOLOGIES USED</a:t>
            </a:r>
          </a:p>
        </p:txBody>
      </p:sp>
      <p:pic>
        <p:nvPicPr>
          <p:cNvPr id="4" name="Picture 3">
            <a:extLst>
              <a:ext uri="{FF2B5EF4-FFF2-40B4-BE49-F238E27FC236}">
                <a16:creationId xmlns:a16="http://schemas.microsoft.com/office/drawing/2014/main" id="{F61CAA06-B7FD-C77A-493A-4805C3E4B0B2}"/>
              </a:ext>
            </a:extLst>
          </p:cNvPr>
          <p:cNvPicPr>
            <a:picLocks noGrp="1"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594119" y="1478524"/>
            <a:ext cx="2912032" cy="194135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D42778C-1ECC-2475-3512-85A63D0EFE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6441328" y="1487646"/>
            <a:ext cx="2912032" cy="194135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F008813-B529-0E40-674F-A220C1BF0AD6}"/>
              </a:ext>
            </a:extLst>
          </p:cNvPr>
          <p:cNvPicPr>
            <a:picLocks noChangeAspect="1"/>
          </p:cNvPicPr>
          <p:nvPr/>
        </p:nvPicPr>
        <p:blipFill rotWithShape="1">
          <a:blip r:embed="rId4">
            <a:extLst>
              <a:ext uri="{28A0092B-C50C-407E-A947-70E740481C1C}">
                <a14:useLocalDpi xmlns:a14="http://schemas.microsoft.com/office/drawing/2010/main" val="0"/>
              </a:ext>
            </a:extLst>
          </a:blip>
          <a:srcRect l="14663" r="44024"/>
          <a:stretch/>
        </p:blipFill>
        <p:spPr>
          <a:xfrm>
            <a:off x="1594119" y="4095461"/>
            <a:ext cx="2912032" cy="1941354"/>
          </a:xfrm>
          <a:prstGeom prst="rect">
            <a:avLst/>
          </a:prstGeom>
        </p:spPr>
      </p:pic>
      <p:pic>
        <p:nvPicPr>
          <p:cNvPr id="8" name="Picture 7">
            <a:extLst>
              <a:ext uri="{FF2B5EF4-FFF2-40B4-BE49-F238E27FC236}">
                <a16:creationId xmlns:a16="http://schemas.microsoft.com/office/drawing/2014/main" id="{CBD8326C-A264-6323-1561-1619277C7B42}"/>
              </a:ext>
            </a:extLst>
          </p:cNvPr>
          <p:cNvPicPr>
            <a:picLocks noChangeAspect="1"/>
          </p:cNvPicPr>
          <p:nvPr/>
        </p:nvPicPr>
        <p:blipFill rotWithShape="1">
          <a:blip r:embed="rId4">
            <a:extLst>
              <a:ext uri="{28A0092B-C50C-407E-A947-70E740481C1C}">
                <a14:useLocalDpi xmlns:a14="http://schemas.microsoft.com/office/drawing/2010/main" val="0"/>
              </a:ext>
            </a:extLst>
          </a:blip>
          <a:srcRect l="52739" r="14768"/>
          <a:stretch/>
        </p:blipFill>
        <p:spPr>
          <a:xfrm>
            <a:off x="6441328" y="4104582"/>
            <a:ext cx="2912032" cy="1932233"/>
          </a:xfrm>
          <a:prstGeom prst="rect">
            <a:avLst/>
          </a:prstGeom>
        </p:spPr>
      </p:pic>
    </p:spTree>
    <p:extLst>
      <p:ext uri="{BB962C8B-B14F-4D97-AF65-F5344CB8AC3E}">
        <p14:creationId xmlns:p14="http://schemas.microsoft.com/office/powerpoint/2010/main" val="4027961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04D6C-9505-5699-FEDF-BE3989B520D2}"/>
              </a:ext>
            </a:extLst>
          </p:cNvPr>
          <p:cNvSpPr txBox="1">
            <a:spLocks/>
          </p:cNvSpPr>
          <p:nvPr/>
        </p:nvSpPr>
        <p:spPr>
          <a:xfrm>
            <a:off x="919120" y="931774"/>
            <a:ext cx="10353761" cy="1326321"/>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600" dirty="0">
                <a:latin typeface="Times New Roman" panose="02020603050405020304" pitchFamily="18" charset="0"/>
                <a:cs typeface="Times New Roman" panose="02020603050405020304" pitchFamily="18" charset="0"/>
              </a:rPr>
              <a:t>OBJECTIVE</a:t>
            </a:r>
            <a:endParaRPr lang="en-IN" sz="36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CFD5C89-135C-C2BF-7417-385775401EC3}"/>
              </a:ext>
            </a:extLst>
          </p:cNvPr>
          <p:cNvSpPr>
            <a:spLocks noChangeArrowheads="1"/>
          </p:cNvSpPr>
          <p:nvPr/>
        </p:nvSpPr>
        <p:spPr bwMode="auto">
          <a:xfrm>
            <a:off x="681487" y="1832797"/>
            <a:ext cx="10829025"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and implement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fingerprint-based access control system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college events.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 the participant verification process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reducing manual effort and human error.</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ensure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only authorized students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gain entry, enhancing event security and management.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store and retrieve fingerprint data efficiently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an embedded microcontroller-based system.</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record attendance automatically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providing accurate and tamper-proof participation data.</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demonstrate the use of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biometric technology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a reliable and modern alternative to traditional ID-based verification methods.</a:t>
            </a:r>
          </a:p>
        </p:txBody>
      </p:sp>
    </p:spTree>
    <p:extLst>
      <p:ext uri="{BB962C8B-B14F-4D97-AF65-F5344CB8AC3E}">
        <p14:creationId xmlns:p14="http://schemas.microsoft.com/office/powerpoint/2010/main" val="4003278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69A12D-92B9-C4FD-A898-64C8A7E13C6B}"/>
              </a:ext>
            </a:extLst>
          </p:cNvPr>
          <p:cNvSpPr txBox="1"/>
          <p:nvPr/>
        </p:nvSpPr>
        <p:spPr>
          <a:xfrm>
            <a:off x="3716594" y="560439"/>
            <a:ext cx="4095911" cy="646331"/>
          </a:xfrm>
          <a:prstGeom prst="rect">
            <a:avLst/>
          </a:prstGeom>
          <a:noFill/>
        </p:spPr>
        <p:txBody>
          <a:bodyPr wrap="square" rtlCol="0">
            <a:spAutoFit/>
          </a:bodyPr>
          <a:lstStyle/>
          <a:p>
            <a:r>
              <a:rPr lang="en-IN" sz="3600" dirty="0" err="1"/>
              <a:t>Enrollment</a:t>
            </a:r>
            <a:r>
              <a:rPr lang="en-IN" sz="3600" dirty="0"/>
              <a:t> Module</a:t>
            </a:r>
            <a:endParaRPr lang="en-IN" sz="36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6523E248-A525-64CC-9E91-94AFDE19E715}"/>
              </a:ext>
            </a:extLst>
          </p:cNvPr>
          <p:cNvSpPr>
            <a:spLocks noChangeArrowheads="1"/>
          </p:cNvSpPr>
          <p:nvPr/>
        </p:nvSpPr>
        <p:spPr bwMode="auto">
          <a:xfrm>
            <a:off x="1433180" y="1766062"/>
            <a:ext cx="866273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Enrollment Module is responsible for registering new participants by capturing and storing their fingerprint data along with their roll numbers. When a user enrolls, the fingerprint sensor scans the fingerprint, processes the image, and stores it as a digital template in both the sensor’s memory and the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users.json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database. The module checks for duplicates to prevent re-registration of the same fingerprint or roll number. Once successfully enrolled, the system displays confirmation on the OLED screen and updates the web interface. This module ensures secure, error-free, and unique identification for every participant in the college event system </a:t>
            </a:r>
          </a:p>
        </p:txBody>
      </p:sp>
    </p:spTree>
    <p:extLst>
      <p:ext uri="{BB962C8B-B14F-4D97-AF65-F5344CB8AC3E}">
        <p14:creationId xmlns:p14="http://schemas.microsoft.com/office/powerpoint/2010/main" val="3938075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B89A82-F7A1-F50D-BCB1-9A225163E789}"/>
              </a:ext>
            </a:extLst>
          </p:cNvPr>
          <p:cNvSpPr txBox="1"/>
          <p:nvPr/>
        </p:nvSpPr>
        <p:spPr>
          <a:xfrm>
            <a:off x="1020543" y="1720840"/>
            <a:ext cx="9192126" cy="3416320"/>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Authentication Module handles the process of verifying participant identity during event access. When a participant places their finger on the sensor, the system scans the fingerprint and compares it with the stored templates. If a match is found, access is granted, and the event entry is logged automatically in the database. If the fingerprint does not match, access is denied, and an alert is displayed. This module ensures that only registered and authorized individuals are allowed to enter, enhancing security and preventing fake or unauthorized entries. It provides quick, accurate, and real-time authentication for college events.</a:t>
            </a:r>
          </a:p>
        </p:txBody>
      </p:sp>
      <p:sp>
        <p:nvSpPr>
          <p:cNvPr id="3" name="TextBox 2">
            <a:extLst>
              <a:ext uri="{FF2B5EF4-FFF2-40B4-BE49-F238E27FC236}">
                <a16:creationId xmlns:a16="http://schemas.microsoft.com/office/drawing/2014/main" id="{77C03EC0-9A46-E75A-ADA9-8D9895290B1A}"/>
              </a:ext>
            </a:extLst>
          </p:cNvPr>
          <p:cNvSpPr txBox="1"/>
          <p:nvPr/>
        </p:nvSpPr>
        <p:spPr>
          <a:xfrm>
            <a:off x="3242374" y="600411"/>
            <a:ext cx="4748463"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Authentication Module</a:t>
            </a:r>
          </a:p>
        </p:txBody>
      </p:sp>
    </p:spTree>
    <p:extLst>
      <p:ext uri="{BB962C8B-B14F-4D97-AF65-F5344CB8AC3E}">
        <p14:creationId xmlns:p14="http://schemas.microsoft.com/office/powerpoint/2010/main" val="1498481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E05E70-F8F3-E4E0-ACAE-2BAF1C436500}"/>
              </a:ext>
            </a:extLst>
          </p:cNvPr>
          <p:cNvSpPr txBox="1"/>
          <p:nvPr/>
        </p:nvSpPr>
        <p:spPr>
          <a:xfrm>
            <a:off x="2752233" y="726754"/>
            <a:ext cx="5309937" cy="646331"/>
          </a:xfrm>
          <a:prstGeom prst="rect">
            <a:avLst/>
          </a:prstGeom>
          <a:noFill/>
        </p:spPr>
        <p:txBody>
          <a:bodyPr wrap="square" rtlCol="0">
            <a:spAutoFit/>
          </a:bodyPr>
          <a:lstStyle/>
          <a:p>
            <a:pPr algn="ctr"/>
            <a:r>
              <a:rPr lang="en-IN" sz="3600" dirty="0"/>
              <a:t>Communication Module</a:t>
            </a:r>
            <a:endParaRPr lang="en-IN" sz="3600" b="1"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D332E778-31AC-1C17-FEBF-6FCC8915B3A2}"/>
              </a:ext>
            </a:extLst>
          </p:cNvPr>
          <p:cNvSpPr>
            <a:spLocks noChangeArrowheads="1"/>
          </p:cNvSpPr>
          <p:nvPr/>
        </p:nvSpPr>
        <p:spPr bwMode="auto">
          <a:xfrm>
            <a:off x="1383747" y="1606931"/>
            <a:ext cx="827772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Communication Module acts as a bridge between the hardware (Arduino) and the software (Python and web interface). It uses serial communication to transmit data such as enrollment success, access status, and fingerprint verification results. The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Bridge.py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script reads serial messages from the Arduino and updates the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users.json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database accordingly. It also communicates these updates to the web interface for real-time display. This module ensures smooth, two-way data flow between all components, maintaining synchronization between the microcontroller and the system interface. It guarantees reliable data exchange, efficient system coordination, and instant feedback to both users and administrators. </a:t>
            </a:r>
          </a:p>
        </p:txBody>
      </p:sp>
    </p:spTree>
    <p:extLst>
      <p:ext uri="{BB962C8B-B14F-4D97-AF65-F5344CB8AC3E}">
        <p14:creationId xmlns:p14="http://schemas.microsoft.com/office/powerpoint/2010/main" val="3757265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1752C4-3F59-18E5-10DF-292F41188A0E}"/>
              </a:ext>
            </a:extLst>
          </p:cNvPr>
          <p:cNvSpPr txBox="1"/>
          <p:nvPr/>
        </p:nvSpPr>
        <p:spPr>
          <a:xfrm>
            <a:off x="1784412" y="744664"/>
            <a:ext cx="6882465" cy="646331"/>
          </a:xfrm>
          <a:prstGeom prst="rect">
            <a:avLst/>
          </a:prstGeom>
          <a:noFill/>
        </p:spPr>
        <p:txBody>
          <a:bodyPr wrap="square" rtlCol="0">
            <a:spAutoFit/>
          </a:bodyPr>
          <a:lstStyle/>
          <a:p>
            <a:r>
              <a:rPr lang="en-IN" sz="3600" dirty="0"/>
              <a:t>Display and Notification Module</a:t>
            </a:r>
            <a:endParaRPr lang="en-IN" sz="3600" b="1" dirty="0"/>
          </a:p>
        </p:txBody>
      </p:sp>
      <p:sp>
        <p:nvSpPr>
          <p:cNvPr id="3" name="TextBox 2">
            <a:extLst>
              <a:ext uri="{FF2B5EF4-FFF2-40B4-BE49-F238E27FC236}">
                <a16:creationId xmlns:a16="http://schemas.microsoft.com/office/drawing/2014/main" id="{9AB52BFB-8059-24D7-4361-5CDE4C10DEAD}"/>
              </a:ext>
            </a:extLst>
          </p:cNvPr>
          <p:cNvSpPr txBox="1"/>
          <p:nvPr/>
        </p:nvSpPr>
        <p:spPr>
          <a:xfrm>
            <a:off x="1435768" y="1748589"/>
            <a:ext cx="8089361" cy="4524315"/>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Display and Notification Module provides immediate visual and audio feedback to users during enrollment and authentication. It uses a </a:t>
            </a:r>
            <a:r>
              <a:rPr lang="en-US" sz="2400" b="1" dirty="0">
                <a:latin typeface="Times New Roman" panose="02020603050405020304" pitchFamily="18" charset="0"/>
                <a:cs typeface="Times New Roman" panose="02020603050405020304" pitchFamily="18" charset="0"/>
              </a:rPr>
              <a:t>0.96-inch OLED display</a:t>
            </a:r>
            <a:r>
              <a:rPr lang="en-US" sz="2400" dirty="0">
                <a:latin typeface="Times New Roman" panose="02020603050405020304" pitchFamily="18" charset="0"/>
                <a:cs typeface="Times New Roman" panose="02020603050405020304" pitchFamily="18" charset="0"/>
              </a:rPr>
              <a:t> to show system messages like “Place Finger,” “Access Granted,” or “Access Denied.” Additionally, LEDs and a buzzer indicate system responses—green light and a beep for success, red light and a buzz for failure. On the web interface, status updates and messages are displayed for administrators. This module enhances user interaction and system clarity by offering real-time updates. It helps participants understand their access results quickly while allowing event organizers to monitor operations efficiently.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0741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FCA6564-8413-FC6F-A788-C5481C5722DA}"/>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3012947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3C2A525A-9246-6A98-20B0-47A2BD65C920}"/>
              </a:ext>
            </a:extLst>
          </p:cNvPr>
          <p:cNvSpPr txBox="1"/>
          <p:nvPr/>
        </p:nvSpPr>
        <p:spPr>
          <a:xfrm>
            <a:off x="4159188" y="246810"/>
            <a:ext cx="3657599"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FLOW CHART</a:t>
            </a:r>
            <a:endParaRPr lang="en-IN" sz="36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74D3E1B-11F6-7876-5807-7F39BEA33933}"/>
              </a:ext>
            </a:extLst>
          </p:cNvPr>
          <p:cNvPicPr>
            <a:picLocks noChangeAspect="1"/>
          </p:cNvPicPr>
          <p:nvPr/>
        </p:nvPicPr>
        <p:blipFill>
          <a:blip r:embed="rId2"/>
          <a:stretch>
            <a:fillRect/>
          </a:stretch>
        </p:blipFill>
        <p:spPr>
          <a:xfrm>
            <a:off x="2259269" y="893141"/>
            <a:ext cx="6711519" cy="5865468"/>
          </a:xfrm>
          <a:prstGeom prst="rect">
            <a:avLst/>
          </a:prstGeom>
        </p:spPr>
      </p:pic>
    </p:spTree>
    <p:extLst>
      <p:ext uri="{BB962C8B-B14F-4D97-AF65-F5344CB8AC3E}">
        <p14:creationId xmlns:p14="http://schemas.microsoft.com/office/powerpoint/2010/main" val="2873013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52A186-DD75-52AB-D268-5C0764F2CD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61134"/>
            <a:ext cx="12192000" cy="5996866"/>
          </a:xfrm>
          <a:prstGeom prst="rect">
            <a:avLst/>
          </a:prstGeom>
        </p:spPr>
      </p:pic>
      <p:sp>
        <p:nvSpPr>
          <p:cNvPr id="4" name="TextBox 3">
            <a:extLst>
              <a:ext uri="{FF2B5EF4-FFF2-40B4-BE49-F238E27FC236}">
                <a16:creationId xmlns:a16="http://schemas.microsoft.com/office/drawing/2014/main" id="{12E9EBD0-37B0-8B00-1F7A-5A12E7621462}"/>
              </a:ext>
            </a:extLst>
          </p:cNvPr>
          <p:cNvSpPr txBox="1"/>
          <p:nvPr/>
        </p:nvSpPr>
        <p:spPr>
          <a:xfrm>
            <a:off x="3604334" y="133165"/>
            <a:ext cx="4208016"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IMPLEMENTATION</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30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8AD998-F17B-8DA4-D667-745192B0A16D}"/>
              </a:ext>
            </a:extLst>
          </p:cNvPr>
          <p:cNvSpPr txBox="1"/>
          <p:nvPr/>
        </p:nvSpPr>
        <p:spPr>
          <a:xfrm>
            <a:off x="4168877" y="196645"/>
            <a:ext cx="3146323"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OUTPUT SCREENS</a:t>
            </a:r>
            <a:endParaRPr lang="en-IN" sz="20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324A39A-CF28-6D0D-7579-C87F5E4149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429476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D43DAC-769B-12E3-A396-308D639A3D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559830" cy="4252404"/>
          </a:xfrm>
          <a:prstGeom prst="rect">
            <a:avLst/>
          </a:prstGeom>
        </p:spPr>
      </p:pic>
      <p:pic>
        <p:nvPicPr>
          <p:cNvPr id="4" name="Picture 3">
            <a:extLst>
              <a:ext uri="{FF2B5EF4-FFF2-40B4-BE49-F238E27FC236}">
                <a16:creationId xmlns:a16="http://schemas.microsoft.com/office/drawing/2014/main" id="{DC001311-6292-00E3-A0F0-9ABD9BE2D59E}"/>
              </a:ext>
            </a:extLst>
          </p:cNvPr>
          <p:cNvPicPr>
            <a:picLocks noChangeAspect="1"/>
          </p:cNvPicPr>
          <p:nvPr/>
        </p:nvPicPr>
        <p:blipFill>
          <a:blip r:embed="rId3"/>
          <a:stretch>
            <a:fillRect/>
          </a:stretch>
        </p:blipFill>
        <p:spPr>
          <a:xfrm>
            <a:off x="5224017" y="2938509"/>
            <a:ext cx="6967984" cy="3919491"/>
          </a:xfrm>
          <a:prstGeom prst="rect">
            <a:avLst/>
          </a:prstGeom>
        </p:spPr>
      </p:pic>
    </p:spTree>
    <p:extLst>
      <p:ext uri="{BB962C8B-B14F-4D97-AF65-F5344CB8AC3E}">
        <p14:creationId xmlns:p14="http://schemas.microsoft.com/office/powerpoint/2010/main" val="16878980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B48A6F-AD58-B812-30E2-928B60DE7E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Tree>
    <p:extLst>
      <p:ext uri="{BB962C8B-B14F-4D97-AF65-F5344CB8AC3E}">
        <p14:creationId xmlns:p14="http://schemas.microsoft.com/office/powerpoint/2010/main" val="2676405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17D68CA-0591-1242-BAA7-A90902F16E7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9145067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65ED29-F56D-86F5-B875-C9C181B51C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685314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0CBDC9-683F-AD0D-C83C-5B6F7372C7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129815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79034F-3E89-49D3-94B3-DC9E8EB5D62A}"/>
              </a:ext>
            </a:extLst>
          </p:cNvPr>
          <p:cNvSpPr txBox="1"/>
          <p:nvPr/>
        </p:nvSpPr>
        <p:spPr>
          <a:xfrm>
            <a:off x="4739149" y="584337"/>
            <a:ext cx="2418735"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REFERENCES</a:t>
            </a:r>
            <a:endParaRPr lang="en-IN" sz="2000" b="1"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DC73E26B-4CD2-2177-C54E-D192C4356D65}"/>
              </a:ext>
            </a:extLst>
          </p:cNvPr>
          <p:cNvSpPr>
            <a:spLocks noChangeArrowheads="1"/>
          </p:cNvSpPr>
          <p:nvPr/>
        </p:nvSpPr>
        <p:spPr bwMode="auto">
          <a:xfrm rot="10800000" flipV="1">
            <a:off x="954827" y="1434666"/>
            <a:ext cx="9987378"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Kumar, A., &amp; Singh, P. (2018).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Fingerprint-Based Access Control System Using Microcontroller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International Journal of Engineering Research &amp; Technology (IJERT), Vol. 7, Issue 6.</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Sharma, M., &amp; Patel, D. (2019).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Fingerprint Recognition Using Minutiae and Ridge Feature Extraction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IEEE Transactions on Information Forensics and Security.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Reddy, S., &amp; Das, R. (2021).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Attendance System Using Fingerprint Biometrics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International Journal of Computer Science Trends and Technology.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Mehta, R., &amp;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Iyer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 (2020).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IoT-Based Biometric Authentication System for Smart Campus Management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IEEE Access Journal.</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Carcillo</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 et al. (2019).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Credit Card Fraud Detection: A Realistic Modeling and a Novel Learning Strategy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IEEE Transactions on Neural Networks and Learning Systems</a:t>
            </a:r>
          </a:p>
        </p:txBody>
      </p:sp>
    </p:spTree>
    <p:extLst>
      <p:ext uri="{BB962C8B-B14F-4D97-AF65-F5344CB8AC3E}">
        <p14:creationId xmlns:p14="http://schemas.microsoft.com/office/powerpoint/2010/main" val="33113673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906F09-3C94-E271-3347-478A45C0BE7A}"/>
              </a:ext>
            </a:extLst>
          </p:cNvPr>
          <p:cNvSpPr txBox="1"/>
          <p:nvPr/>
        </p:nvSpPr>
        <p:spPr>
          <a:xfrm>
            <a:off x="4083728" y="852256"/>
            <a:ext cx="3204839"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CONCLUSION</a:t>
            </a:r>
            <a:endParaRPr lang="en-IN" sz="3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CB6CAD2-CE70-E092-D29D-B1BD55F59242}"/>
              </a:ext>
            </a:extLst>
          </p:cNvPr>
          <p:cNvSpPr txBox="1"/>
          <p:nvPr/>
        </p:nvSpPr>
        <p:spPr>
          <a:xfrm>
            <a:off x="1890943" y="1784411"/>
            <a:ext cx="8194090" cy="4524315"/>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Fingerprint-Based Access Control System for College Events</a:t>
            </a:r>
            <a:r>
              <a:rPr lang="en-US" sz="2400" dirty="0">
                <a:latin typeface="Times New Roman" panose="02020603050405020304" pitchFamily="18" charset="0"/>
                <a:cs typeface="Times New Roman" panose="02020603050405020304" pitchFamily="18" charset="0"/>
              </a:rPr>
              <a:t> provides a secure, efficient, and automated way to manage event entry and attendance. By using biometric fingerprint authentication, the system eliminates manual verification errors and prevents unauthorized access. It integrates hardware components like the R307S sensor and Arduino with a web-based interface and JSON database for smooth operation and real-time monitoring. The system ensures fast, accurate, and user-friendly performance, making it ideal for college event management. Overall, it enhances security, reduces human effort, and promotes a more reliable, digital, and organized event access process.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56237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ank You Images – Browse 2,164,527 Stock Photos, Vectors, and Video |  Adobe Stock">
            <a:extLst>
              <a:ext uri="{FF2B5EF4-FFF2-40B4-BE49-F238E27FC236}">
                <a16:creationId xmlns:a16="http://schemas.microsoft.com/office/drawing/2014/main" id="{A5884F0F-0A84-A0C8-8956-E6D8249405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4695"/>
            <a:ext cx="12191999" cy="68687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42539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Celestial</Template>
  <TotalTime>1465</TotalTime>
  <Words>1223</Words>
  <Application>Microsoft Office PowerPoint</Application>
  <PresentationFormat>Widescreen</PresentationFormat>
  <Paragraphs>70</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Times New Roman</vt:lpstr>
      <vt:lpstr>Wingdings</vt:lpstr>
      <vt:lpstr>Celestial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yashaswi chinni</dc:creator>
  <cp:lastModifiedBy>THIMMAPURAM SRINIVAS CHARY</cp:lastModifiedBy>
  <cp:revision>12</cp:revision>
  <dcterms:created xsi:type="dcterms:W3CDTF">2025-10-11T14:46:42Z</dcterms:created>
  <dcterms:modified xsi:type="dcterms:W3CDTF">2025-12-10T07:35:43Z</dcterms:modified>
</cp:coreProperties>
</file>